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handoutMasterIdLst>
    <p:handoutMasterId r:id="rId17"/>
  </p:handoutMasterIdLst>
  <p:sldIdLst>
    <p:sldId id="272" r:id="rId2"/>
    <p:sldId id="288" r:id="rId3"/>
    <p:sldId id="287" r:id="rId4"/>
    <p:sldId id="281" r:id="rId5"/>
    <p:sldId id="289" r:id="rId6"/>
    <p:sldId id="286" r:id="rId7"/>
    <p:sldId id="283" r:id="rId8"/>
    <p:sldId id="295" r:id="rId9"/>
    <p:sldId id="292" r:id="rId10"/>
    <p:sldId id="290" r:id="rId11"/>
    <p:sldId id="293" r:id="rId12"/>
    <p:sldId id="294" r:id="rId13"/>
    <p:sldId id="284" r:id="rId14"/>
    <p:sldId id="28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B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4" autoAdjust="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3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C34AA4-0C7F-4033-88CA-C72BD33DECF5}" type="doc">
      <dgm:prSet loTypeId="urn:microsoft.com/office/officeart/2005/8/layout/vList2" loCatId="list" qsTypeId="urn:microsoft.com/office/officeart/2005/8/quickstyle/simple2#1" qsCatId="simple" csTypeId="urn:microsoft.com/office/officeart/2005/8/colors/accent0_3#1" csCatId="mainScheme" phldr="1"/>
      <dgm:spPr/>
      <dgm:t>
        <a:bodyPr/>
        <a:lstStyle/>
        <a:p>
          <a:endParaRPr lang="en-US"/>
        </a:p>
      </dgm:t>
    </dgm:pt>
    <dgm:pt modelId="{A047CE2D-73FD-4124-B229-D88E31462D09}">
      <dgm:prSet/>
      <dgm:spPr/>
      <dgm:t>
        <a:bodyPr/>
        <a:lstStyle/>
        <a:p>
          <a:r>
            <a:rPr lang="es-ES" dirty="0"/>
            <a:t>Evaluación continua</a:t>
          </a:r>
          <a:endParaRPr lang="en-US" dirty="0"/>
        </a:p>
      </dgm:t>
    </dgm:pt>
    <dgm:pt modelId="{EC082F98-A90C-4706-8419-8165B0F8D40C}" type="parTrans" cxnId="{88F4EE26-E496-4583-9C1B-FB8470427E08}">
      <dgm:prSet/>
      <dgm:spPr/>
      <dgm:t>
        <a:bodyPr/>
        <a:lstStyle/>
        <a:p>
          <a:endParaRPr lang="en-US"/>
        </a:p>
      </dgm:t>
    </dgm:pt>
    <dgm:pt modelId="{F9349865-0E17-4A1E-BD02-D35C50923E4F}" type="sibTrans" cxnId="{88F4EE26-E496-4583-9C1B-FB8470427E08}">
      <dgm:prSet/>
      <dgm:spPr/>
      <dgm:t>
        <a:bodyPr/>
        <a:lstStyle/>
        <a:p>
          <a:endParaRPr lang="en-US"/>
        </a:p>
      </dgm:t>
    </dgm:pt>
    <dgm:pt modelId="{E675571E-02CB-4915-81FE-7142E02A2D09}">
      <dgm:prSet/>
      <dgm:spPr/>
      <dgm:t>
        <a:bodyPr/>
        <a:lstStyle/>
        <a:p>
          <a:r>
            <a:rPr lang="es-ES" dirty="0"/>
            <a:t>Trabajos</a:t>
          </a:r>
          <a:endParaRPr lang="en-US" dirty="0"/>
        </a:p>
      </dgm:t>
    </dgm:pt>
    <dgm:pt modelId="{CDA10AFD-5D2F-4FBD-A6CB-AF6EC885E02E}" type="parTrans" cxnId="{C52CD3C5-86C9-4B7B-A6EF-E9C32D0C04AA}">
      <dgm:prSet/>
      <dgm:spPr/>
      <dgm:t>
        <a:bodyPr/>
        <a:lstStyle/>
        <a:p>
          <a:endParaRPr lang="en-US"/>
        </a:p>
      </dgm:t>
    </dgm:pt>
    <dgm:pt modelId="{4E457EF0-FF02-48CD-8A2E-79FE39E027BF}" type="sibTrans" cxnId="{C52CD3C5-86C9-4B7B-A6EF-E9C32D0C04AA}">
      <dgm:prSet/>
      <dgm:spPr/>
      <dgm:t>
        <a:bodyPr/>
        <a:lstStyle/>
        <a:p>
          <a:endParaRPr lang="en-US"/>
        </a:p>
      </dgm:t>
    </dgm:pt>
    <dgm:pt modelId="{9B8B5D29-B8A3-4C99-91AD-3810DA6C3FAE}">
      <dgm:prSet/>
      <dgm:spPr/>
      <dgm:t>
        <a:bodyPr/>
        <a:lstStyle/>
        <a:p>
          <a:r>
            <a:rPr lang="es-ES" dirty="0"/>
            <a:t>Cuestionarios</a:t>
          </a:r>
          <a:endParaRPr lang="en-US" dirty="0"/>
        </a:p>
      </dgm:t>
    </dgm:pt>
    <dgm:pt modelId="{6F4A60F2-F918-4995-9EA5-72D441F38D19}" type="parTrans" cxnId="{D208A4AD-DAF5-48C4-9F6C-583E42E0CA2F}">
      <dgm:prSet/>
      <dgm:spPr/>
      <dgm:t>
        <a:bodyPr/>
        <a:lstStyle/>
        <a:p>
          <a:endParaRPr lang="en-US"/>
        </a:p>
      </dgm:t>
    </dgm:pt>
    <dgm:pt modelId="{736B036B-7F15-408C-B282-D5FB7051D7D6}" type="sibTrans" cxnId="{D208A4AD-DAF5-48C4-9F6C-583E42E0CA2F}">
      <dgm:prSet/>
      <dgm:spPr/>
      <dgm:t>
        <a:bodyPr/>
        <a:lstStyle/>
        <a:p>
          <a:endParaRPr lang="en-US"/>
        </a:p>
      </dgm:t>
    </dgm:pt>
    <dgm:pt modelId="{C7653119-CF88-4FEF-9D4F-3E55D0454237}">
      <dgm:prSet/>
      <dgm:spPr/>
      <dgm:t>
        <a:bodyPr/>
        <a:lstStyle/>
        <a:p>
          <a:r>
            <a:rPr lang="es-ES" noProof="0" dirty="0"/>
            <a:t>Exámenes y pruebas</a:t>
          </a:r>
        </a:p>
      </dgm:t>
    </dgm:pt>
    <dgm:pt modelId="{CDE8C1B6-575D-4F94-BD13-D575F38CD541}" type="parTrans" cxnId="{F9D2C916-8BDB-41EB-B672-F7E9B0150F18}">
      <dgm:prSet/>
      <dgm:spPr/>
      <dgm:t>
        <a:bodyPr/>
        <a:lstStyle/>
        <a:p>
          <a:endParaRPr lang="es-ES"/>
        </a:p>
      </dgm:t>
    </dgm:pt>
    <dgm:pt modelId="{201B80CE-3F13-4D68-891D-32B6D386DDD6}" type="sibTrans" cxnId="{F9D2C916-8BDB-41EB-B672-F7E9B0150F18}">
      <dgm:prSet/>
      <dgm:spPr/>
      <dgm:t>
        <a:bodyPr/>
        <a:lstStyle/>
        <a:p>
          <a:endParaRPr lang="es-ES"/>
        </a:p>
      </dgm:t>
    </dgm:pt>
    <dgm:pt modelId="{4321FB76-7426-4262-8B6A-99B994A0E4DE}" type="pres">
      <dgm:prSet presAssocID="{8FC34AA4-0C7F-4033-88CA-C72BD33DECF5}" presName="linear" presStyleCnt="0">
        <dgm:presLayoutVars>
          <dgm:animLvl val="lvl"/>
          <dgm:resizeHandles val="exact"/>
        </dgm:presLayoutVars>
      </dgm:prSet>
      <dgm:spPr/>
    </dgm:pt>
    <dgm:pt modelId="{D9F6CD83-6A1C-4EC8-881F-5A7FA01DCFB2}" type="pres">
      <dgm:prSet presAssocID="{A047CE2D-73FD-4124-B229-D88E31462D0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68C93F-E9E8-49EF-8C67-26DAD6CC7237}" type="pres">
      <dgm:prSet presAssocID="{A047CE2D-73FD-4124-B229-D88E31462D0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9D2C916-8BDB-41EB-B672-F7E9B0150F18}" srcId="{A047CE2D-73FD-4124-B229-D88E31462D09}" destId="{C7653119-CF88-4FEF-9D4F-3E55D0454237}" srcOrd="2" destOrd="0" parTransId="{CDE8C1B6-575D-4F94-BD13-D575F38CD541}" sibTransId="{201B80CE-3F13-4D68-891D-32B6D386DDD6}"/>
    <dgm:cxn modelId="{88F4EE26-E496-4583-9C1B-FB8470427E08}" srcId="{8FC34AA4-0C7F-4033-88CA-C72BD33DECF5}" destId="{A047CE2D-73FD-4124-B229-D88E31462D09}" srcOrd="0" destOrd="0" parTransId="{EC082F98-A90C-4706-8419-8165B0F8D40C}" sibTransId="{F9349865-0E17-4A1E-BD02-D35C50923E4F}"/>
    <dgm:cxn modelId="{8FF52D28-1FCB-4017-8CFE-893CEBB4A8CF}" type="presOf" srcId="{A047CE2D-73FD-4124-B229-D88E31462D09}" destId="{D9F6CD83-6A1C-4EC8-881F-5A7FA01DCFB2}" srcOrd="0" destOrd="0" presId="urn:microsoft.com/office/officeart/2005/8/layout/vList2"/>
    <dgm:cxn modelId="{6611035F-4735-4C2F-88A1-49540A8AEEB3}" type="presOf" srcId="{9B8B5D29-B8A3-4C99-91AD-3810DA6C3FAE}" destId="{1F68C93F-E9E8-49EF-8C67-26DAD6CC7237}" srcOrd="0" destOrd="1" presId="urn:microsoft.com/office/officeart/2005/8/layout/vList2"/>
    <dgm:cxn modelId="{D208A4AD-DAF5-48C4-9F6C-583E42E0CA2F}" srcId="{A047CE2D-73FD-4124-B229-D88E31462D09}" destId="{9B8B5D29-B8A3-4C99-91AD-3810DA6C3FAE}" srcOrd="1" destOrd="0" parTransId="{6F4A60F2-F918-4995-9EA5-72D441F38D19}" sibTransId="{736B036B-7F15-408C-B282-D5FB7051D7D6}"/>
    <dgm:cxn modelId="{4CEC8AB6-8DDA-4C45-B7C2-B86C2958F08B}" type="presOf" srcId="{8FC34AA4-0C7F-4033-88CA-C72BD33DECF5}" destId="{4321FB76-7426-4262-8B6A-99B994A0E4DE}" srcOrd="0" destOrd="0" presId="urn:microsoft.com/office/officeart/2005/8/layout/vList2"/>
    <dgm:cxn modelId="{949D26BC-2381-4697-9331-88B872BBADA2}" type="presOf" srcId="{C7653119-CF88-4FEF-9D4F-3E55D0454237}" destId="{1F68C93F-E9E8-49EF-8C67-26DAD6CC7237}" srcOrd="0" destOrd="2" presId="urn:microsoft.com/office/officeart/2005/8/layout/vList2"/>
    <dgm:cxn modelId="{C52CD3C5-86C9-4B7B-A6EF-E9C32D0C04AA}" srcId="{A047CE2D-73FD-4124-B229-D88E31462D09}" destId="{E675571E-02CB-4915-81FE-7142E02A2D09}" srcOrd="0" destOrd="0" parTransId="{CDA10AFD-5D2F-4FBD-A6CB-AF6EC885E02E}" sibTransId="{4E457EF0-FF02-48CD-8A2E-79FE39E027BF}"/>
    <dgm:cxn modelId="{827543EF-8A36-438C-8E46-13CCD523479B}" type="presOf" srcId="{E675571E-02CB-4915-81FE-7142E02A2D09}" destId="{1F68C93F-E9E8-49EF-8C67-26DAD6CC7237}" srcOrd="0" destOrd="0" presId="urn:microsoft.com/office/officeart/2005/8/layout/vList2"/>
    <dgm:cxn modelId="{848BB7D4-AE80-4D90-B894-2A30DF240918}" type="presParOf" srcId="{4321FB76-7426-4262-8B6A-99B994A0E4DE}" destId="{D9F6CD83-6A1C-4EC8-881F-5A7FA01DCFB2}" srcOrd="0" destOrd="0" presId="urn:microsoft.com/office/officeart/2005/8/layout/vList2"/>
    <dgm:cxn modelId="{BD4B6285-E308-4762-AFD5-9004E332EB8E}" type="presParOf" srcId="{4321FB76-7426-4262-8B6A-99B994A0E4DE}" destId="{1F68C93F-E9E8-49EF-8C67-26DAD6CC723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6CD83-6A1C-4EC8-881F-5A7FA01DCFB2}">
      <dsp:nvSpPr>
        <dsp:cNvPr id="0" name=""/>
        <dsp:cNvSpPr/>
      </dsp:nvSpPr>
      <dsp:spPr>
        <a:xfrm>
          <a:off x="0" y="35483"/>
          <a:ext cx="3084844" cy="14320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Evaluación continua</a:t>
          </a:r>
          <a:endParaRPr lang="en-US" sz="3600" kern="1200" dirty="0"/>
        </a:p>
      </dsp:txBody>
      <dsp:txXfrm>
        <a:off x="69908" y="105391"/>
        <a:ext cx="2945028" cy="1292264"/>
      </dsp:txXfrm>
    </dsp:sp>
    <dsp:sp modelId="{1F68C93F-E9E8-49EF-8C67-26DAD6CC7237}">
      <dsp:nvSpPr>
        <dsp:cNvPr id="0" name=""/>
        <dsp:cNvSpPr/>
      </dsp:nvSpPr>
      <dsp:spPr>
        <a:xfrm>
          <a:off x="0" y="1467563"/>
          <a:ext cx="3084844" cy="186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94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800" kern="1200" dirty="0"/>
            <a:t>Trabajos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800" kern="1200" dirty="0"/>
            <a:t>Cuestionarios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800" kern="1200" noProof="0" dirty="0"/>
            <a:t>Exámenes y pruebas</a:t>
          </a:r>
        </a:p>
      </dsp:txBody>
      <dsp:txXfrm>
        <a:off x="0" y="1467563"/>
        <a:ext cx="3084844" cy="186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502ED-38DF-43AC-A8CD-F9D3E3173CC4}" type="datetime1">
              <a:rPr lang="es-ES" smtClean="0"/>
              <a:t>01/10/2026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097EB-C63E-4831-9239-7FC098CD3F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08344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4DAD7FE-6CFB-4941-843F-5B8FA3E21170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93B0CF2-7F87-4E02-A248-870047730F9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5713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98078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AE62-2B8A-CC37-BB80-21DCFBDA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3090BF-EE48-8D37-2385-8F81E0BFE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1B9B67-F084-E3E0-3CF4-BFD1BC973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D2F0CB-1FAB-0726-6963-1A7B0865D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36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30D9-6C7C-7450-1733-8C047EF1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DBAD7D-0E86-B161-6364-CCE4CB421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5D58A8-FA28-3873-CC37-9BE093FBC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7BBF0C-4568-3447-815E-9AB7FE356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6591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C493-370D-4A7D-FB4C-50985A05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FA415D-347C-6FD7-AE43-AE5191065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A1EFE5-2AFA-584A-2FD1-1A54ED094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6A927F-DCA1-257F-0179-A9C950BBE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4100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5696-291B-D03D-0A95-84C6F826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21579F-B1F2-EA1F-1B75-0AAAAA830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9E210D-660C-D683-E770-77E13C33D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39E7F5-86B7-6B94-3B5D-950CF7786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1396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6D9D-DA2A-85E6-2ABB-A14C91E42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C079D24-2FB5-D412-DD26-A57E99C63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5304A4-9EA8-F7A7-0FA2-953E91A03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366DDC-F5F3-EA44-1D54-65B1525C2E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4292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5364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3080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7F0D198-0886-401E-862C-EF3536AA44DD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6D21B82-7BF1-46E2-B9D5-CDE3DA44761F}"/>
              </a:ext>
            </a:extLst>
          </p:cNvPr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B5DDBA9-0AD0-4264-A2A1-5A51E7A46D2B}"/>
              </a:ext>
            </a:extLst>
          </p:cNvPr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70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811FD10-D06B-4536-8048-7D2897F296FB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646426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2540A2F-3117-4E4B-AFC9-CB157300D9A8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35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4983E3B-19EF-4B0A-B85C-B5EE2F3F66E9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174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1EE2287-7AED-4508-BA8B-A33013696AEC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4339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0BD4DFD-A822-4FD8-BFBF-197CBA855426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1388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84916D-9C1E-4B35-A1BA-B043FBD4F6CF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8893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A8EDA92C-EA07-4844-A9C0-7671CE0A3023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7733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811FD10-D06B-4536-8048-7D2897F296FB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49939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2E184A9-C1BE-4691-8290-38F7E3B9E2EA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5154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537EF8-1A52-460D-8FA5-88CB8E631AE8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8185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1811FD10-D06B-4536-8048-7D2897F296FB}" type="datetime1">
              <a:rPr lang="es-ES" noProof="0" smtClean="0"/>
              <a:t>01/10/2026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94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diezc09@educantabria.e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fpadistancia.educantabria.es/login/index.ph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6AA15AE-DAFE-4E1E-B05F-F57962FD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8141110" y="639097"/>
            <a:ext cx="3401961" cy="3686015"/>
          </a:xfrm>
        </p:spPr>
        <p:txBody>
          <a:bodyPr rtlCol="0">
            <a:normAutofit/>
          </a:bodyPr>
          <a:lstStyle/>
          <a:p>
            <a:pPr rtl="0"/>
            <a:r>
              <a:rPr lang="es-ES" sz="4100" b="1"/>
              <a:t>Digitalización aplicada a los sectores productivos</a:t>
            </a:r>
            <a:br>
              <a:rPr lang="es-ES" sz="4100"/>
            </a:br>
            <a:r>
              <a:rPr lang="es-ES" sz="4100"/>
              <a:t>ASIR1</a:t>
            </a:r>
            <a:br>
              <a:rPr lang="es-ES" sz="4100"/>
            </a:br>
            <a:r>
              <a:rPr lang="es-ES" sz="4100"/>
              <a:t>curso 2026/27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535604-AB41-47AD-8E13-87015FC43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1110" y="4455621"/>
            <a:ext cx="3417990" cy="1238616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Carmen Iza Castanedo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CEA4A23-0A28-C9DE-C7F1-8BD64C106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860207"/>
            <a:ext cx="6912217" cy="4613904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07141D5-A57C-43F5-A655-5BA2D0D2A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D9DB1F97-BFF9-46CC-8EB4-BB63B98F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CAE6E3-39B4-4A16-97BC-9C376B9B7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B80045BC-58DB-469C-8997-6C0C16B17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A07439-7217-B933-5691-FE399BDA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s-ES"/>
              <a:t>Contacto</a:t>
            </a:r>
          </a:p>
        </p:txBody>
      </p:sp>
      <p:pic>
        <p:nvPicPr>
          <p:cNvPr id="1026" name="Picture 2" descr="Diagrama&#10;&#10;Descripción generada automáticamente">
            <a:extLst>
              <a:ext uri="{FF2B5EF4-FFF2-40B4-BE49-F238E27FC236}">
                <a16:creationId xmlns:a16="http://schemas.microsoft.com/office/drawing/2014/main" id="{85E9638C-D82E-898E-6F87-5CDF11D17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1" r="6863" b="2"/>
          <a:stretch>
            <a:fillRect/>
          </a:stretch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83EF6BB5-A95D-4C59-808C-3B64F444F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5FD3E9-2A9C-E9AF-DC49-FED4C416E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r>
              <a:rPr lang="es-ES"/>
              <a:t>Carmen Iza Castanedo</a:t>
            </a:r>
            <a:endParaRPr lang="es-ES">
              <a:hlinkClick r:id="rId3"/>
            </a:endParaRPr>
          </a:p>
          <a:p>
            <a:pPr marL="0" indent="0">
              <a:buNone/>
            </a:pPr>
            <a:r>
              <a:rPr lang="es-ES">
                <a:hlinkClick r:id="rId3"/>
              </a:rPr>
              <a:t>ciza01@educantabria.es</a:t>
            </a:r>
            <a:endParaRPr lang="es-ES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150BDA68-EBDD-443C-9B6B-03CA14AF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00C07DB3-666C-4A9D-81CE-83B435F95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75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01F3FC2-0CA7-44E2-B365-0C1C19284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28FB93-95A7-4FDC-8465-018F5B4D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040581-5351-4206-8622-1AB9B6F1B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5265A31-16F0-4D1B-8B59-46B4F1DD7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D50067-72E5-4961-9777-1BD8CE44B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7BDB62-3C90-447E-AD17-0EE9027F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Tutorías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7E08FD-989C-B003-1123-7F61312D3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7" r="18429"/>
          <a:stretch>
            <a:fillRect/>
          </a:stretch>
        </p:blipFill>
        <p:spPr>
          <a:xfrm>
            <a:off x="20" y="10"/>
            <a:ext cx="7977495" cy="4744794"/>
          </a:xfrm>
          <a:prstGeom prst="rect">
            <a:avLst/>
          </a:prstGeom>
        </p:spPr>
      </p:pic>
      <p:pic>
        <p:nvPicPr>
          <p:cNvPr id="16" name="Picture 15" descr="Calendario sobre la mesa">
            <a:extLst>
              <a:ext uri="{FF2B5EF4-FFF2-40B4-BE49-F238E27FC236}">
                <a16:creationId xmlns:a16="http://schemas.microsoft.com/office/drawing/2014/main" id="{1CF6EB5A-AAAF-3A4E-DA7A-5CFC9BF217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7" r="40943"/>
          <a:stretch>
            <a:fillRect/>
          </a:stretch>
        </p:blipFill>
        <p:spPr>
          <a:xfrm>
            <a:off x="8138382" y="1965"/>
            <a:ext cx="4053618" cy="474778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7BD3CFE0-CBDC-4721-8819-C75F13CAF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99E2FE-7663-B2B2-3183-EE50CF9A81EA}"/>
              </a:ext>
            </a:extLst>
          </p:cNvPr>
          <p:cNvSpPr txBox="1"/>
          <p:nvPr/>
        </p:nvSpPr>
        <p:spPr>
          <a:xfrm>
            <a:off x="492371" y="2736575"/>
            <a:ext cx="3084844" cy="9310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54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77078" y="516835"/>
            <a:ext cx="3100136" cy="2103875"/>
          </a:xfrm>
        </p:spPr>
        <p:txBody>
          <a:bodyPr rtlCol="0">
            <a:normAutofit/>
          </a:bodyPr>
          <a:lstStyle/>
          <a:p>
            <a:pPr rtl="0"/>
            <a:r>
              <a:rPr lang="es-ES" sz="3600"/>
              <a:t>Estructura del curso	</a:t>
            </a:r>
          </a:p>
        </p:txBody>
      </p: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7432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Juguete de lego&#10;&#10;Descripción generada automáticamente con confianza baja">
            <a:extLst>
              <a:ext uri="{FF2B5EF4-FFF2-40B4-BE49-F238E27FC236}">
                <a16:creationId xmlns:a16="http://schemas.microsoft.com/office/drawing/2014/main" id="{B918F69F-D37F-6560-3AA7-525A43C5DD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7" r="11433" b="-1"/>
          <a:stretch>
            <a:fillRect/>
          </a:stretch>
        </p:blipFill>
        <p:spPr bwMode="auto">
          <a:xfrm>
            <a:off x="4075043" y="10"/>
            <a:ext cx="80382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Marcador de contenido 1">
            <a:extLst>
              <a:ext uri="{FF2B5EF4-FFF2-40B4-BE49-F238E27FC236}">
                <a16:creationId xmlns:a16="http://schemas.microsoft.com/office/drawing/2014/main" id="{AA3E7560-3847-408E-9215-C71472957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336765"/>
              </p:ext>
            </p:extLst>
          </p:nvPr>
        </p:nvGraphicFramePr>
        <p:xfrm>
          <a:off x="492371" y="2736574"/>
          <a:ext cx="3084844" cy="336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69297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EFD13-1A48-A628-8A83-1C427EDC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Comunicación, apuntes y tareas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45A909-EFC8-6C23-1DB9-4D918227C2E1}"/>
              </a:ext>
            </a:extLst>
          </p:cNvPr>
          <p:cNvSpPr txBox="1"/>
          <p:nvPr/>
        </p:nvSpPr>
        <p:spPr>
          <a:xfrm>
            <a:off x="1838632" y="1883182"/>
            <a:ext cx="9193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>
                <a:hlinkClick r:id="rId2"/>
              </a:rPr>
              <a:t>Entrar al sitio | fpadistancia</a:t>
            </a:r>
            <a:endParaRPr lang="es-ES" sz="5400" dirty="0">
              <a:solidFill>
                <a:srgbClr val="535BC0"/>
              </a:solidFill>
            </a:endParaRP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67C90DDC-3110-9E76-E901-B2EB3270C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237" y="2891346"/>
            <a:ext cx="6759526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7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4A8FFEA1-1B69-4F42-B552-0CCF7259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3C9226-5EC8-460B-82D7-72AA994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2A90A9D-33DF-408E-BF4C-F8258893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C6B623D-A3E9-460F-9A5B-2F0FE253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4FFBB3-BE79-47E6-9A13-9D2A8455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Distribución temporal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4EC9AD-316C-862E-74EC-D370035F134C}"/>
              </a:ext>
            </a:extLst>
          </p:cNvPr>
          <p:cNvSpPr txBox="1"/>
          <p:nvPr/>
        </p:nvSpPr>
        <p:spPr>
          <a:xfrm>
            <a:off x="633999" y="5727515"/>
            <a:ext cx="10925101" cy="515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000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provisionales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355BF7B-E19B-478B-8187-8EF57F4F9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AEABC29F-F82F-4902-B701-8FEEE414F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75BDCBB-0B1A-4AA1-B47F-DBDB6424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E73A7D-79F9-5066-4016-751CFC159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56" y="478337"/>
            <a:ext cx="12052444" cy="154355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6A697C0-66B1-DDAF-5ED8-4AB30FF5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57" y="2374098"/>
            <a:ext cx="11816470" cy="160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0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8FFEA1-1B69-4F42-B552-0CCF7259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3C9226-5EC8-460B-82D7-72AA994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A90A9D-33DF-408E-BF4C-F8258893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C6B623D-A3E9-460F-9A5B-2F0FE253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Evaluación del curso	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609F2F-F569-78E2-9D7C-6CA87259B3F1}"/>
              </a:ext>
            </a:extLst>
          </p:cNvPr>
          <p:cNvSpPr txBox="1"/>
          <p:nvPr/>
        </p:nvSpPr>
        <p:spPr>
          <a:xfrm>
            <a:off x="633999" y="5727515"/>
            <a:ext cx="10925101" cy="515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000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Se evalúan los RA`s  con los siguientes instrumentos de evaluación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C96A84-4A28-7FF7-B712-1C675781B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57" y="2414310"/>
            <a:ext cx="10916463" cy="182850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55BF7B-E19B-478B-8187-8EF57F4F9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EABC29F-F82F-4902-B701-8FEEE414F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5BDCBB-0B1A-4AA1-B47F-DBDB6424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368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5F0A5-6AC7-0917-9711-6015E054D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1D53CA0-FDE7-4B62-AE74-A671E6B82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FA22A8-DAD2-4DBF-BCF6-AA00E9D83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CF2381-9166-48DC-8859-93B6A5893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9C5F1CC-81CF-4FB4-9977-391DF5B09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5604083-C567-65C7-E13A-E1F96B6D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Evaluación del curso	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915C91-8D9E-783E-5C31-EE9669B13A84}"/>
              </a:ext>
            </a:extLst>
          </p:cNvPr>
          <p:cNvSpPr txBox="1"/>
          <p:nvPr/>
        </p:nvSpPr>
        <p:spPr>
          <a:xfrm>
            <a:off x="457200" y="3578087"/>
            <a:ext cx="3659246" cy="1554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Cada RA se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dividen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en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criterios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de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evaluación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que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utilizan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los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siguientes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instrumentos</a:t>
            </a:r>
            <a:r>
              <a:rPr lang="en-US" sz="1500" cap="all" spc="200" dirty="0">
                <a:solidFill>
                  <a:srgbClr val="FFFFFF"/>
                </a:solidFill>
                <a:latin typeface="+mj-lt"/>
              </a:rPr>
              <a:t> de </a:t>
            </a:r>
            <a:r>
              <a:rPr lang="en-US" sz="1500" cap="all" spc="200" dirty="0" err="1">
                <a:solidFill>
                  <a:srgbClr val="FFFFFF"/>
                </a:solidFill>
                <a:latin typeface="+mj-lt"/>
              </a:rPr>
              <a:t>evaluación</a:t>
            </a:r>
            <a:endParaRPr lang="en-US" sz="1500" cap="all" spc="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356F62-2D2E-8FB1-9546-2E87A8A21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" b="8463"/>
          <a:stretch>
            <a:fillRect/>
          </a:stretch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FDD4421-3DEC-4941-9625-756F8B5C6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621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E530-4EEA-C51C-95A8-CD9C3B30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A477B15-3564-266E-FBD8-32A5B170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/>
              <a:t>CRITERIOS DE CALIFICACIÓN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86B90D-DF78-86D8-ED72-C68D320AA133}"/>
              </a:ext>
            </a:extLst>
          </p:cNvPr>
          <p:cNvSpPr txBox="1"/>
          <p:nvPr/>
        </p:nvSpPr>
        <p:spPr>
          <a:xfrm>
            <a:off x="1120876" y="2084439"/>
            <a:ext cx="99502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 fontAlgn="base">
              <a:buFont typeface="+mj-lt"/>
              <a:buAutoNum type="arabicPeriod"/>
            </a:pPr>
            <a:r>
              <a:rPr lang="es-ES" sz="2800" b="1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Para cada Resultado de Aprendizaje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rtl="0" fontAlgn="base">
              <a:buFont typeface="Arial" panose="020B0604020202020204" pitchFamily="34" charset="0"/>
              <a:buChar char="•"/>
            </a:pPr>
            <a:r>
              <a:rPr lang="es-ES" sz="28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 cálculo de la </a:t>
            </a:r>
            <a:r>
              <a:rPr lang="es-ES" sz="2800" b="1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nota de cada Resultado de Aprendizaje </a:t>
            </a:r>
            <a:r>
              <a:rPr lang="es-ES" sz="28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 realizará teniendo en cuenta el peso de cada Criterio de Evaluación, es decir, vendrá determinada por la media ponderada de las calificaciones individuales aplicadas a cada uno de los Criterios de Evaluación que lo componen, según los porcentajes establecidos.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indent="202301" algn="just" rtl="0" fontAlgn="base">
              <a:buNone/>
            </a:pPr>
            <a:r>
              <a:rPr lang="es-ES" sz="28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 aplica la siguiente </a:t>
            </a:r>
            <a:r>
              <a:rPr lang="es-ES" sz="2800" b="1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fórmula</a:t>
            </a:r>
            <a:r>
              <a:rPr lang="es-ES" sz="28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indent="0" algn="l" rtl="0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s-E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indent="0" algn="ctr" rtl="0" fontAlgn="base">
              <a:buNone/>
            </a:pPr>
            <a:r>
              <a:rPr lang="es-ES" sz="3200" b="0" i="0" u="none" strike="noStrike" spc="0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Nota RA 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= CE</a:t>
            </a:r>
            <a:r>
              <a:rPr lang="es-ES" sz="20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*</a:t>
            </a:r>
            <a:r>
              <a:rPr lang="es-ES" sz="3200" b="0" i="0" u="none" strike="noStrike" spc="0" dirty="0">
                <a:solidFill>
                  <a:srgbClr val="528135"/>
                </a:solidFill>
                <a:effectLst/>
                <a:latin typeface="Calibri" panose="020F0502020204030204" pitchFamily="34" charset="0"/>
              </a:rPr>
              <a:t>Peso 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+ … + CE</a:t>
            </a:r>
            <a:r>
              <a:rPr lang="es-ES" sz="20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N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*</a:t>
            </a:r>
            <a:r>
              <a:rPr lang="es-ES" sz="3200" b="0" i="0" u="none" strike="noStrike" spc="0" dirty="0">
                <a:solidFill>
                  <a:srgbClr val="528135"/>
                </a:solidFill>
                <a:effectLst/>
                <a:latin typeface="Calibri" panose="020F0502020204030204" pitchFamily="34" charset="0"/>
              </a:rPr>
              <a:t>Peso </a:t>
            </a:r>
            <a:r>
              <a:rPr lang="es-ES" sz="3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s-E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16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D5CA-5AEB-CFF9-9CAD-FDB83A20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25277-AB67-B9E7-200D-84DEBFAC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/>
              <a:t>CRITERIOS DE CALIFICACIÓN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B18E66-79BE-E7EF-AB39-7E4C452CD45D}"/>
              </a:ext>
            </a:extLst>
          </p:cNvPr>
          <p:cNvSpPr txBox="1"/>
          <p:nvPr/>
        </p:nvSpPr>
        <p:spPr>
          <a:xfrm>
            <a:off x="1120876" y="2084439"/>
            <a:ext cx="99502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 fontAlgn="base">
              <a:buFont typeface="Arial" panose="020B0604020202020204" pitchFamily="34" charset="0"/>
              <a:buChar char="•"/>
            </a:pPr>
            <a:r>
              <a:rPr lang="es-ES" sz="28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Así mismo, cada </a:t>
            </a:r>
            <a:r>
              <a:rPr lang="es-ES" sz="2800" b="1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Criterio de Evaluación </a:t>
            </a:r>
            <a:r>
              <a:rPr lang="es-ES" sz="28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tiene asignados unos Instrumentos de Evaluación específicos que, a su vez, tienen una ponderación en calificación individual del Criterio de Evaluación, con lo cual, todas las pruebas relacionadas con el mismo CE serán ponderadas al peso que se ha otorgado a dicho CE en el RA.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indent="0" algn="just" rtl="0" fontAlgn="base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indent="0" algn="ctr" rtl="0" fontAlgn="base">
              <a:buNone/>
            </a:pPr>
            <a:r>
              <a:rPr lang="es-ES" sz="3200" b="0" i="0" u="none" strike="noStrike" spc="0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Nota CE 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= IE</a:t>
            </a:r>
            <a:r>
              <a:rPr lang="es-ES" sz="20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*</a:t>
            </a:r>
            <a:r>
              <a:rPr lang="es-ES" sz="3200" b="0" i="0" u="none" strike="noStrike" spc="0" dirty="0">
                <a:solidFill>
                  <a:srgbClr val="528135"/>
                </a:solidFill>
                <a:effectLst/>
                <a:latin typeface="Calibri" panose="020F0502020204030204" pitchFamily="34" charset="0"/>
              </a:rPr>
              <a:t>Peso 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+ … + IE</a:t>
            </a:r>
            <a:r>
              <a:rPr lang="es-ES" sz="20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N</a:t>
            </a:r>
            <a:r>
              <a:rPr lang="es-ES" sz="3200" b="0" i="0" u="none" strike="noStrike" spc="0" dirty="0">
                <a:solidFill>
                  <a:srgbClr val="C45811"/>
                </a:solidFill>
                <a:effectLst/>
                <a:latin typeface="Calibri" panose="020F0502020204030204" pitchFamily="34" charset="0"/>
              </a:rPr>
              <a:t>*</a:t>
            </a:r>
            <a:r>
              <a:rPr lang="es-ES" sz="3200" b="0" i="0" u="none" strike="noStrike" spc="0" dirty="0">
                <a:solidFill>
                  <a:srgbClr val="528135"/>
                </a:solidFill>
                <a:effectLst/>
                <a:latin typeface="Calibri" panose="020F0502020204030204" pitchFamily="34" charset="0"/>
              </a:rPr>
              <a:t>Peso</a:t>
            </a:r>
            <a:endParaRPr lang="es-ES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913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D4FF-02EC-EB99-A52B-64978968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2 Marcador de contenido">
                <a:extLst>
                  <a:ext uri="{FF2B5EF4-FFF2-40B4-BE49-F238E27FC236}">
                    <a16:creationId xmlns:a16="http://schemas.microsoft.com/office/drawing/2014/main" id="{DA784800-540B-F6BD-3470-DD37AE32D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513" y="1981200"/>
                <a:ext cx="11682573" cy="3940629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lphaUcPeriod" startAt="2"/>
                </a:pPr>
                <a:r>
                  <a:rPr lang="es-ES" sz="2800" b="1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Para cada evaluación</a:t>
                </a:r>
              </a:p>
              <a:p>
                <a:pPr marL="0" indent="0" algn="just">
                  <a:buNone/>
                </a:pPr>
                <a:r>
                  <a:rPr lang="es-ES" sz="2800" b="0" i="0" u="none" strike="noStrike" baseline="0" dirty="0">
                    <a:solidFill>
                      <a:srgbClr val="000000"/>
                    </a:solidFill>
                  </a:rPr>
                  <a:t>Se tendrán en cuenta todos los </a:t>
                </a:r>
                <a:r>
                  <a:rPr lang="es-ES" sz="2800" b="0" i="0" u="none" strike="noStrike" baseline="0" dirty="0" err="1">
                    <a:solidFill>
                      <a:srgbClr val="000000"/>
                    </a:solidFill>
                  </a:rPr>
                  <a:t>RAs</a:t>
                </a:r>
                <a:r>
                  <a:rPr lang="es-ES" sz="2800" b="0" i="0" u="none" strike="noStrike" baseline="0" dirty="0">
                    <a:solidFill>
                      <a:srgbClr val="000000"/>
                    </a:solidFill>
                  </a:rPr>
                  <a:t> y </a:t>
                </a:r>
                <a:r>
                  <a:rPr lang="es-ES" sz="2800" b="0" i="0" u="none" strike="noStrike" baseline="0" dirty="0" err="1">
                    <a:solidFill>
                      <a:srgbClr val="000000"/>
                    </a:solidFill>
                  </a:rPr>
                  <a:t>CEs</a:t>
                </a:r>
                <a:r>
                  <a:rPr lang="es-ES" sz="2800" b="0" i="0" u="none" strike="noStrike" baseline="0" dirty="0">
                    <a:solidFill>
                      <a:srgbClr val="000000"/>
                    </a:solidFill>
                  </a:rPr>
                  <a:t> impartidos y evaluados hasta ese momento, de tal modo que se calculará la media ponderada teniendo en cuenta su peso en la programación didáctica del módulo. </a:t>
                </a:r>
              </a:p>
              <a:p>
                <a:pPr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1000"/>
                  </a:spcAft>
                </a:pPr>
                <a:r>
                  <a:rPr lang="es-ES" sz="2800" b="0" i="0" u="none" strike="noStrike" baseline="0" dirty="0">
                    <a:solidFill>
                      <a:srgbClr val="000000"/>
                    </a:solidFill>
                  </a:rPr>
                  <a:t>Cálculo del peso: </a:t>
                </a:r>
                <a:r>
                  <a:rPr lang="es-ES" sz="2800" dirty="0">
                    <a:effectLst/>
                    <a:ea typeface="Times New Roman" panose="02020603050405020304" pitchFamily="18" charset="0"/>
                    <a:cs typeface="Times New Roman (Cuerpo en alfa"/>
                  </a:rPr>
                  <a:t> </a:t>
                </a:r>
              </a:p>
              <a:p>
                <a:pPr marL="0" indent="0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800" i="1">
                              <a:solidFill>
                                <a:srgbClr val="538135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 (Cuerpo en alfa"/>
                            </a:rPr>
                          </m:ctrlPr>
                        </m:sSubPr>
                        <m:e>
                          <m:r>
                            <a:rPr lang="es-ES" sz="1800" i="1">
                              <a:solidFill>
                                <a:srgbClr val="538135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 (Cuerpo en alfa"/>
                            </a:rPr>
                            <m:t>𝑃𝑒𝑠𝑜𝑅𝐴</m:t>
                          </m:r>
                        </m:e>
                        <m:sub>
                          <m:r>
                            <a:rPr lang="es-ES" sz="1800" i="1">
                              <a:solidFill>
                                <a:srgbClr val="538135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 (Cuerpo en alfa"/>
                            </a:rPr>
                            <m:t>𝑒𝑣</m:t>
                          </m:r>
                        </m:sub>
                      </m:sSub>
                      <m:r>
                        <a:rPr lang="es-ES" sz="1800" i="1">
                          <a:solidFill>
                            <a:srgbClr val="538135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 (Cuerpo en alfa"/>
                        </a:rPr>
                        <m:t> (%)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 (Cuerpo en alfa"/>
                        </a:rPr>
                        <m:t>= </m:t>
                      </m:r>
                      <m:f>
                        <m:fPr>
                          <m:ctrlPr>
                            <a:rPr lang="es-ES" sz="1800" i="1">
                              <a:solidFill>
                                <a:srgbClr val="70AD4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 (Cuerpo en alfa"/>
                            </a:rPr>
                          </m:ctrlPr>
                        </m:fPr>
                        <m:num>
                          <m:r>
                            <a:rPr lang="es-ES" sz="1800" i="1">
                              <a:solidFill>
                                <a:srgbClr val="70AD4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 (Cuerpo en alfa"/>
                            </a:rPr>
                            <m:t>𝑃𝑒𝑠𝑜𝑅𝐴</m:t>
                          </m:r>
                          <m:r>
                            <a:rPr lang="es-ES" sz="1800" i="1">
                              <a:solidFill>
                                <a:srgbClr val="70AD4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 (Cuerpo en alfa"/>
                            </a:rPr>
                            <m:t>(%)</m:t>
                          </m:r>
                        </m:num>
                        <m:den>
                          <m:sSub>
                            <m:sSubPr>
                              <m:ctrlPr>
                                <a:rPr lang="es-ES" sz="1800" i="1">
                                  <a:solidFill>
                                    <a:srgbClr val="70AD47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 (Cuerpo en alfa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solidFill>
                                    <a:srgbClr val="70AD47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 (Cuerpo en alfa"/>
                                </a:rPr>
                                <m:t>𝑃𝑒𝑠𝑜𝑇𝑜𝑡𝑎𝑙𝑅𝐴𝑠</m:t>
                              </m:r>
                            </m:e>
                            <m:sub>
                              <m:r>
                                <a:rPr lang="es-ES" sz="1800" i="1">
                                  <a:solidFill>
                                    <a:srgbClr val="70AD47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 (Cuerpo en alfa"/>
                                </a:rPr>
                                <m:t>𝑒𝑣𝑎𝑙𝑢𝑎𝑑𝑜𝑠</m:t>
                              </m:r>
                            </m:sub>
                          </m:sSub>
                          <m:r>
                            <a:rPr lang="es-ES" sz="1800" i="1">
                              <a:solidFill>
                                <a:srgbClr val="70AD47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 (Cuerpo en alfa"/>
                            </a:rPr>
                            <m:t> (%)</m:t>
                          </m:r>
                        </m:den>
                      </m:f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 (Cuerpo en alfa"/>
                        </a:rPr>
                        <m:t>∗</m:t>
                      </m:r>
                      <m:r>
                        <a:rPr lang="es-ES" sz="1800" i="1">
                          <a:solidFill>
                            <a:srgbClr val="70AD47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 (Cuerpo en alfa"/>
                        </a:rPr>
                        <m:t>100</m:t>
                      </m:r>
                    </m:oMath>
                  </m:oMathPara>
                </a14:m>
                <a:endParaRPr lang="es-ES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 (Cuerpo en alfa"/>
                </a:endParaRPr>
              </a:p>
              <a:p>
                <a:pPr marL="0" indent="0">
                  <a:buNone/>
                </a:pPr>
                <a:endParaRPr lang="es-ES" sz="18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s-ES" sz="1800" b="0" i="0" u="none" strike="noStrike" baseline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s-ES" sz="20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s-ES" sz="1800" b="0" i="0" u="none" strike="noStrike" baseline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s-ES" sz="2000" b="1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2 Marcador de contenido">
                <a:extLst>
                  <a:ext uri="{FF2B5EF4-FFF2-40B4-BE49-F238E27FC236}">
                    <a16:creationId xmlns:a16="http://schemas.microsoft.com/office/drawing/2014/main" id="{DA784800-540B-F6BD-3470-DD37AE32D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513" y="1981200"/>
                <a:ext cx="11682573" cy="3940629"/>
              </a:xfrm>
              <a:blipFill>
                <a:blip r:embed="rId3"/>
                <a:stretch>
                  <a:fillRect l="-1878" t="-464" r="-18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ítulo 9">
            <a:extLst>
              <a:ext uri="{FF2B5EF4-FFF2-40B4-BE49-F238E27FC236}">
                <a16:creationId xmlns:a16="http://schemas.microsoft.com/office/drawing/2014/main" id="{7F1AF100-FB4B-BE8E-DB1B-C96B2BFE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CRITERIOS DE CALIFICACIÓN</a:t>
            </a:r>
          </a:p>
        </p:txBody>
      </p:sp>
      <p:sp>
        <p:nvSpPr>
          <p:cNvPr id="11" name="Título 2">
            <a:extLst>
              <a:ext uri="{FF2B5EF4-FFF2-40B4-BE49-F238E27FC236}">
                <a16:creationId xmlns:a16="http://schemas.microsoft.com/office/drawing/2014/main" id="{A98A5AF7-E9E8-18D8-B4F4-9531590158EF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210800" cy="16031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284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59AAF-5AF6-F8CC-6090-64E15CBB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8B533349-5FD0-FEE1-631A-DC823312B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3" y="1981200"/>
            <a:ext cx="11824087" cy="4103914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UcPeriod" startAt="2"/>
            </a:pPr>
            <a:r>
              <a:rPr lang="es-E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Para cada evaluación</a:t>
            </a:r>
          </a:p>
          <a:p>
            <a:r>
              <a:rPr lang="es-ES" sz="2800" b="0" i="0" u="none" strike="noStrike" baseline="0" dirty="0">
                <a:solidFill>
                  <a:srgbClr val="000000"/>
                </a:solidFill>
              </a:rPr>
              <a:t>Cálculo de la calificación: </a:t>
            </a:r>
          </a:p>
          <a:p>
            <a:pPr marL="0" indent="0">
              <a:buNone/>
            </a:pPr>
            <a:endParaRPr lang="es-ES" sz="28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es-ES" sz="2800" b="0" i="0" u="none" strike="noStrike" baseline="0" dirty="0">
                <a:solidFill>
                  <a:srgbClr val="000000"/>
                </a:solidFill>
              </a:rPr>
              <a:t>La calificación final del módulo profesional estará en función de la consecución de los Resultados de Aprendizaje y será numérica, siendo entre 1 y 10, sin decimales. </a:t>
            </a:r>
          </a:p>
          <a:p>
            <a:pPr marL="0" indent="0" algn="just">
              <a:buNone/>
            </a:pPr>
            <a:r>
              <a:rPr lang="es-ES" sz="2800" b="0" i="0" u="none" strike="noStrike" baseline="0" dirty="0">
                <a:solidFill>
                  <a:srgbClr val="000000"/>
                </a:solidFill>
              </a:rPr>
              <a:t>Se considerará que </a:t>
            </a:r>
            <a:r>
              <a:rPr lang="es-ES" sz="2800" b="1" dirty="0">
                <a:solidFill>
                  <a:srgbClr val="000000"/>
                </a:solidFill>
              </a:rPr>
              <a:t>el alumno</a:t>
            </a:r>
            <a:r>
              <a:rPr lang="es-ES" sz="2800" b="1" i="0" u="none" strike="noStrike" baseline="0" dirty="0">
                <a:solidFill>
                  <a:srgbClr val="000000"/>
                </a:solidFill>
              </a:rPr>
              <a:t> ha superado el módulo cuando la nota obtenida en la evaluación final sea igual o superior a 5</a:t>
            </a:r>
            <a:r>
              <a:rPr lang="es-ES" sz="2800" b="0" i="0" u="none" strike="noStrike" baseline="0" dirty="0">
                <a:solidFill>
                  <a:srgbClr val="000000"/>
                </a:solidFill>
              </a:rPr>
              <a:t>. </a:t>
            </a: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20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ítulo 2">
            <a:extLst>
              <a:ext uri="{FF2B5EF4-FFF2-40B4-BE49-F238E27FC236}">
                <a16:creationId xmlns:a16="http://schemas.microsoft.com/office/drawing/2014/main" id="{EE1B3F57-7E5C-C7B2-CD4F-C9DF57BC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CRITERIOS DE CALIFICACIÓN</a:t>
            </a:r>
          </a:p>
        </p:txBody>
      </p:sp>
      <p:sp>
        <p:nvSpPr>
          <p:cNvPr id="8" name="Cuadro de texto 21">
            <a:extLst>
              <a:ext uri="{FF2B5EF4-FFF2-40B4-BE49-F238E27FC236}">
                <a16:creationId xmlns:a16="http://schemas.microsoft.com/office/drawing/2014/main" id="{21376358-56B0-4571-C3A0-0F302B3B4EDD}"/>
              </a:ext>
            </a:extLst>
          </p:cNvPr>
          <p:cNvSpPr txBox="1"/>
          <p:nvPr/>
        </p:nvSpPr>
        <p:spPr>
          <a:xfrm>
            <a:off x="2271968" y="3140968"/>
            <a:ext cx="5688631" cy="57606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</a:pPr>
            <a:r>
              <a:rPr lang="es-ES" sz="20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Nota</a:t>
            </a:r>
            <a:r>
              <a:rPr lang="es-ES" sz="2000" baseline="-250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evaluación</a:t>
            </a:r>
            <a:r>
              <a:rPr lang="es-ES" sz="2000" dirty="0">
                <a:solidFill>
                  <a:srgbClr val="38562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 = </a:t>
            </a:r>
            <a:r>
              <a:rPr lang="es-ES" sz="2000" dirty="0">
                <a:solidFill>
                  <a:srgbClr val="C4591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RA</a:t>
            </a:r>
            <a:r>
              <a:rPr lang="es-ES" sz="2000" baseline="-25000" dirty="0">
                <a:solidFill>
                  <a:srgbClr val="C4591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1</a:t>
            </a:r>
            <a:r>
              <a:rPr lang="es-ES" sz="2000" dirty="0">
                <a:solidFill>
                  <a:srgbClr val="38562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*Peso + </a:t>
            </a:r>
            <a:r>
              <a:rPr lang="es-ES" sz="2000" dirty="0">
                <a:solidFill>
                  <a:srgbClr val="C4591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RA</a:t>
            </a:r>
            <a:r>
              <a:rPr lang="es-ES" sz="2000" baseline="-25000" dirty="0">
                <a:solidFill>
                  <a:srgbClr val="C4591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2</a:t>
            </a:r>
            <a:r>
              <a:rPr lang="es-ES" sz="2000" dirty="0">
                <a:solidFill>
                  <a:srgbClr val="38562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*Peso + … + </a:t>
            </a:r>
            <a:r>
              <a:rPr lang="es-ES" sz="2000" dirty="0" err="1">
                <a:solidFill>
                  <a:srgbClr val="C4591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RA</a:t>
            </a:r>
            <a:r>
              <a:rPr lang="es-ES" sz="2000" baseline="-25000" dirty="0" err="1">
                <a:solidFill>
                  <a:srgbClr val="C4591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n</a:t>
            </a:r>
            <a:r>
              <a:rPr lang="es-ES" sz="2000" dirty="0">
                <a:solidFill>
                  <a:srgbClr val="38562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 (Cuerpo en alfa"/>
              </a:rPr>
              <a:t>*Peso</a:t>
            </a:r>
            <a:endParaRPr lang="es-E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 (Cuerpo en alfa"/>
            </a:endParaRPr>
          </a:p>
        </p:txBody>
      </p:sp>
    </p:spTree>
    <p:extLst>
      <p:ext uri="{BB962C8B-B14F-4D97-AF65-F5344CB8AC3E}">
        <p14:creationId xmlns:p14="http://schemas.microsoft.com/office/powerpoint/2010/main" val="3590943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/>
              <a:t>Objetivos del módulo</a:t>
            </a: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886472"/>
          </a:xfrm>
        </p:spPr>
        <p:txBody>
          <a:bodyPr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 Analiza la transformación digital empresarial, la integración IT/OT y las tecnologías habilitadoras digitales.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Estudia nube, IA y Big Data para innovar y optimizar procesos, destacando el valor de los datos, la ciberseguridad y su aplicación en proyectos.</a:t>
            </a:r>
          </a:p>
        </p:txBody>
      </p:sp>
    </p:spTree>
    <p:extLst>
      <p:ext uri="{BB962C8B-B14F-4D97-AF65-F5344CB8AC3E}">
        <p14:creationId xmlns:p14="http://schemas.microsoft.com/office/powerpoint/2010/main" val="925546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Objetivo básico	</a:t>
            </a:r>
          </a:p>
        </p:txBody>
      </p:sp>
      <p:pic>
        <p:nvPicPr>
          <p:cNvPr id="5" name="Picture 4" descr="Bombilla en fondo amarillo con rayos de luz y cable pintados">
            <a:extLst>
              <a:ext uri="{FF2B5EF4-FFF2-40B4-BE49-F238E27FC236}">
                <a16:creationId xmlns:a16="http://schemas.microsoft.com/office/drawing/2014/main" id="{16ED89E8-4EF0-E06A-4ED1-68E1695836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98" r="7038" b="-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4135402"/>
          </a:xfrm>
        </p:spPr>
        <p:txBody>
          <a:bodyPr rtlCol="0">
            <a:normAutofit lnSpcReduction="10000"/>
          </a:bodyPr>
          <a:lstStyle/>
          <a:p>
            <a:pPr marL="0" indent="0" rtl="0">
              <a:buNone/>
            </a:pPr>
            <a:endParaRPr lang="es-ES" dirty="0"/>
          </a:p>
          <a:p>
            <a:pPr algn="ctr" rtl="0"/>
            <a:r>
              <a:rPr lang="es-E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APRENDER A APRENDER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800" dirty="0"/>
              <a:t>Las tecnologías y las metodologías en este sector son efímeras.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800" dirty="0"/>
              <a:t>Se debe conocer dónde y cómo buscar información.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800" dirty="0"/>
              <a:t>Métodos para la autoformación.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2800" dirty="0"/>
              <a:t>Aprender a obtener ayuda cuando sea necesario.</a:t>
            </a: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50105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945</TotalTime>
  <Words>474</Words>
  <Application>Microsoft Office PowerPoint</Application>
  <PresentationFormat>Panorámica</PresentationFormat>
  <Paragraphs>65</Paragraphs>
  <Slides>14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Segoe UI</vt:lpstr>
      <vt:lpstr>Times New Roman</vt:lpstr>
      <vt:lpstr>Wingdings</vt:lpstr>
      <vt:lpstr>Retrospección</vt:lpstr>
      <vt:lpstr>Digitalización aplicada a los sectores productivos ASIR1 curso 2026/27</vt:lpstr>
      <vt:lpstr>Contacto</vt:lpstr>
      <vt:lpstr>Tutorías </vt:lpstr>
      <vt:lpstr>Estructura del curso </vt:lpstr>
      <vt:lpstr>Comunicación, apuntes y tareas</vt:lpstr>
      <vt:lpstr>Distribución temporal</vt:lpstr>
      <vt:lpstr>Evaluación del curso </vt:lpstr>
      <vt:lpstr>Evaluación del curso </vt:lpstr>
      <vt:lpstr>CRITERIOS DE CALIFICACIÓN</vt:lpstr>
      <vt:lpstr>CRITERIOS DE CALIFICACIÓN</vt:lpstr>
      <vt:lpstr>CRITERIOS DE CALIFICACIÓN</vt:lpstr>
      <vt:lpstr>CRITERIOS DE CALIFICACIÓN</vt:lpstr>
      <vt:lpstr>Objetivos del módulo</vt:lpstr>
      <vt:lpstr>Objetivo básico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de creatividad</dc:title>
  <dc:creator>Lorenzo Arce</dc:creator>
  <cp:lastModifiedBy>Carmen Iza Castanedo</cp:lastModifiedBy>
  <cp:revision>50</cp:revision>
  <dcterms:created xsi:type="dcterms:W3CDTF">2018-09-19T10:43:45Z</dcterms:created>
  <dcterms:modified xsi:type="dcterms:W3CDTF">2026-10-01T11:23:02Z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